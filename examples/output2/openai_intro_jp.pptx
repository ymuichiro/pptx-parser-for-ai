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77"/>
  </p:normalViewPr>
  <p:slideViewPr>
    <p:cSldViewPr snapToGrid="0" snapToObjects="1">
      <p:cViewPr varScale="1">
        <p:scale>
          <a:sx n="146" d="100"/>
          <a:sy n="146" d="100"/>
        </p:scale>
        <p:origin x="184" y="18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導入優先度スコア例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社内FAQ</c:v>
                </c:pt>
                <c:pt idx="1">
                  <c:v>議事録要約</c:v>
                </c:pt>
                <c:pt idx="2">
                  <c:v>開発支援</c:v>
                </c:pt>
                <c:pt idx="3">
                  <c:v>顧客対応補助</c:v>
                </c:pt>
                <c:pt idx="4">
                  <c:v>契約書レビュー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5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2920" y="3884023"/>
            <a:ext cx="7772400" cy="146304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 algn="ctr">
              <a:buNone/>
              <a:defRPr sz="1800">
                <a:solidFill>
                  <a:srgbClr val="44444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C72B98BA-869D-3750-C4A0-0819554AC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376170"/>
            <a:ext cx="11290663" cy="1143000"/>
          </a:xfrm>
        </p:spPr>
        <p:txBody>
          <a:bodyPr/>
          <a:lstStyle>
            <a:lvl1pPr>
              <a:defRPr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075B6510-E118-0470-C854-7A1786F3A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3AD7D4C5-CFA3-A26C-9B40-00CB703E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2001425E-CEBA-0160-3EC6-DCDB0872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6422" y="1114425"/>
            <a:ext cx="11730445" cy="499899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1" y="2333898"/>
            <a:ext cx="8229600" cy="146304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1800">
                <a:solidFill>
                  <a:srgbClr val="44444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4E21F2C5-D692-C035-AB8E-E7F5E2278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1" y="1411812"/>
            <a:ext cx="11175274" cy="645196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7D32573A-B4BF-D855-B118-082963284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516884CF-46E6-857C-323C-6CEAC631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70805F50-61D4-6BF5-5910-DB5ACA39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8A4D2959-DC66-A124-52B8-8E8467A7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日付プレースホルダー 8">
            <a:extLst>
              <a:ext uri="{FF2B5EF4-FFF2-40B4-BE49-F238E27FC236}">
                <a16:creationId xmlns:a16="http://schemas.microsoft.com/office/drawing/2014/main" id="{AC78EFE3-FFBC-52AC-793F-A5AC5CEF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2885C4CB-8898-EE25-076E-20BC39DF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79D36539-24EF-59E1-CB5B-33D4B26D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コンテンツ プレースホルダー 12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6423" y="1114652"/>
            <a:ext cx="5738812" cy="501618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8056" y="1114652"/>
            <a:ext cx="5738812" cy="501618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422" y="1049186"/>
            <a:ext cx="5712824" cy="502920"/>
          </a:xfrm>
          <a:noFill/>
          <a:ln>
            <a:noFill/>
          </a:ln>
        </p:spPr>
        <p:txBody>
          <a:bodyPr wrap="square" lIns="73152" tIns="36576" rIns="73152" bIns="0" anchor="ctr"/>
          <a:lstStyle>
            <a:lvl1pPr marL="0" indent="0" algn="ctr">
              <a:buNone/>
              <a:defRPr sz="1400" b="1">
                <a:solidFill>
                  <a:srgbClr val="11111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22818" y="1049186"/>
            <a:ext cx="5712824" cy="502920"/>
          </a:xfrm>
          <a:noFill/>
          <a:ln>
            <a:noFill/>
          </a:ln>
        </p:spPr>
        <p:txBody>
          <a:bodyPr wrap="square" lIns="73152" tIns="36576" rIns="73152" bIns="0" anchor="ctr"/>
          <a:lstStyle>
            <a:lvl1pPr marL="0" indent="0" algn="ctr">
              <a:buNone/>
              <a:defRPr sz="1400" b="1">
                <a:solidFill>
                  <a:srgbClr val="11111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endParaRPr lang="en-US" dirty="0"/>
          </a:p>
        </p:txBody>
      </p:sp>
      <p:sp>
        <p:nvSpPr>
          <p:cNvPr id="10" name="タイトル 9">
            <a:extLst>
              <a:ext uri="{FF2B5EF4-FFF2-40B4-BE49-F238E27FC236}">
                <a16:creationId xmlns:a16="http://schemas.microsoft.com/office/drawing/2014/main" id="{742611C5-3334-7E2B-59D2-B8B829483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日付プレースホルダー 10">
            <a:extLst>
              <a:ext uri="{FF2B5EF4-FFF2-40B4-BE49-F238E27FC236}">
                <a16:creationId xmlns:a16="http://schemas.microsoft.com/office/drawing/2014/main" id="{873B0EB2-52CE-9FBE-5229-B24CF5D71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2A7F14D4-BBB3-0D79-5D1A-8E0282780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F8DE6177-18F6-D7A0-7D6F-64E793AF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05A5F16C-5213-8739-D5CC-71F95A8DD8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5421" y="1736725"/>
            <a:ext cx="5734051" cy="442894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コンテンツ プレースホルダー 16">
            <a:extLst>
              <a:ext uri="{FF2B5EF4-FFF2-40B4-BE49-F238E27FC236}">
                <a16:creationId xmlns:a16="http://schemas.microsoft.com/office/drawing/2014/main" id="{7736F04F-6D87-D6E7-D993-8E4670208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2817" y="1740444"/>
            <a:ext cx="5712825" cy="442894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5702" y="1419498"/>
            <a:ext cx="3383189" cy="470666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4F013160-CF05-FC39-74BC-3B8CEFD40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02" y="231291"/>
            <a:ext cx="3383189" cy="973621"/>
          </a:xfrm>
        </p:spPr>
        <p:txBody>
          <a:bodyPr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0" name="コンテンツ プレースホルダー 9">
            <a:extLst>
              <a:ext uri="{FF2B5EF4-FFF2-40B4-BE49-F238E27FC236}">
                <a16:creationId xmlns:a16="http://schemas.microsoft.com/office/drawing/2014/main" id="{EABDED12-0D42-4603-CB2B-383FF79C3B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58214" y="231290"/>
            <a:ext cx="8068084" cy="589487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7712" y="1097280"/>
            <a:ext cx="7855134" cy="5024846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19952" y="1097280"/>
            <a:ext cx="3636916" cy="5024846"/>
          </a:xfrm>
          <a:noFill/>
          <a:ln>
            <a:noFill/>
          </a:ln>
        </p:spPr>
        <p:txBody>
          <a:bodyPr wrap="square" lIns="0" tIns="36576" rIns="0" bIns="0" anchor="t"/>
          <a:lstStyle>
            <a:lvl1pPr marL="0" indent="0">
              <a:buNone/>
              <a:defRPr sz="1400">
                <a:solidFill>
                  <a:srgbClr val="444444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3E4DDDEC-1DB2-EF3B-AA3A-651334DC9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three_cards_horizont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8A4D2959-DC66-A124-52B8-8E8467A7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219456"/>
            <a:ext cx="11728704" cy="64465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日付プレースホルダー 8">
            <a:extLst>
              <a:ext uri="{FF2B5EF4-FFF2-40B4-BE49-F238E27FC236}">
                <a16:creationId xmlns:a16="http://schemas.microsoft.com/office/drawing/2014/main" id="{AC78EFE3-FFBC-52AC-793F-A5AC5CEF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2885C4CB-8898-EE25-076E-20BC39DF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79D36539-24EF-59E1-CB5B-33D4B26D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コンテンツ プレースホルダー 12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1648" y="1117854"/>
            <a:ext cx="3755136" cy="501319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18432" y="1117854"/>
            <a:ext cx="3755136" cy="501319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6" name="コンテンツ プレースホルダー 16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05216" y="1117854"/>
            <a:ext cx="3755136" cy="501319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three_cards_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8A4D2959-DC66-A124-52B8-8E8467A7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219456"/>
            <a:ext cx="11728704" cy="64465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日付プレースホルダー 8">
            <a:extLst>
              <a:ext uri="{FF2B5EF4-FFF2-40B4-BE49-F238E27FC236}">
                <a16:creationId xmlns:a16="http://schemas.microsoft.com/office/drawing/2014/main" id="{AC78EFE3-FFBC-52AC-793F-A5AC5CEF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2885C4CB-8898-EE25-076E-20BC39DF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79D36539-24EF-59E1-CB5B-33D4B26D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コンテンツ プレースホルダー 12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1648" y="1117854"/>
            <a:ext cx="11728704" cy="146761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31648" y="2887218"/>
            <a:ext cx="11728704" cy="146761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6" name="コンテンツ プレースホルダー 16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31648" y="4656582"/>
            <a:ext cx="11728704" cy="146761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423" y="218737"/>
            <a:ext cx="11730445" cy="64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423" y="1095103"/>
            <a:ext cx="11730444" cy="5035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1108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473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729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生成 AI と AI エージェント時代の基盤企業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OpenAI の紹介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本日の構成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t>OpenAI の位置づけ</a:t>
            </a:r>
          </a:p>
          <a:p>
            <a:r>
              <a:t>主要プロダクトと技術スタック</a:t>
            </a:r>
          </a:p>
          <a:p>
            <a:r>
              <a:t>企業活用の典型ユースケース</a:t>
            </a:r>
          </a:p>
          <a:p>
            <a:r>
              <a:t>安全性・ガバナンスの論点</a:t>
            </a:r>
          </a:p>
          <a:p>
            <a:r>
              <a:t>導入ステップと次のアクション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研究・モデル開発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プロダクト・API 事業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OpenAI とは何か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140" y="1809877"/>
            <a:ext cx="5734051" cy="442894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3709" y="1773301"/>
            <a:ext cx="5734051" cy="4428944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5421" y="1736725"/>
            <a:ext cx="5734051" cy="44289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tent Placeholder 4"/>
          <p:cNvSpPr>
            <a:spLocks noGrp="1"/>
          </p:cNvSpPr>
          <p:nvPr>
            <p:ph idx="13" sz="quarter"/>
          </p:nvPr>
        </p:nvSpPr>
        <p:spPr>
          <a:noFill/>
          <a:ln>
            <a:noFill/>
          </a:ln>
        </p:spPr>
        <p:txBody>
          <a:bodyPr wrap="square" anchor="t" lIns="365760" tIns="310896" rIns="365760" bIns="292608"/>
          <a:lstStyle/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34343"/>
                </a:solidFill>
              </a:rPr>
              <a:t>大規模言語モデル、マルチモーダルモデル、推論モデルなどの基盤モデルを研究・開発する。</a:t>
            </a:r>
          </a:p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27272"/>
                </a:solidFill>
              </a:rPr>
              <a:t>• AGI の安全な実現を掲げる</a:t>
            </a:r>
          </a:p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27272"/>
                </a:solidFill>
              </a:rPr>
              <a:t>• モデル能力・安全性評価を継続</a:t>
            </a:r>
          </a:p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27272"/>
                </a:solidFill>
              </a:rPr>
              <a:t>• 自然言語、画像、音声、コードを横断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8536" y="1813596"/>
            <a:ext cx="5712825" cy="442894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1104" y="1777020"/>
            <a:ext cx="5712825" cy="4428944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22817" y="1740444"/>
            <a:ext cx="5712825" cy="44289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 Placeholder 5"/>
          <p:cNvSpPr>
            <a:spLocks noGrp="1"/>
          </p:cNvSpPr>
          <p:nvPr>
            <p:ph idx="14" sz="quarter"/>
          </p:nvPr>
        </p:nvSpPr>
        <p:spPr>
          <a:noFill/>
          <a:ln>
            <a:noFill/>
          </a:ln>
        </p:spPr>
        <p:txBody>
          <a:bodyPr wrap="square" anchor="t" lIns="365760" tIns="310896" rIns="365760" bIns="292608"/>
          <a:lstStyle/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34343"/>
                </a:solidFill>
              </a:rPr>
              <a:t>ChatGPT と API を中心に、個人・開発者・企業向けの生成 AI 利用基盤を提供する。</a:t>
            </a:r>
          </a:p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27272"/>
                </a:solidFill>
              </a:rPr>
              <a:t>• ChatGPT による対話型 AI 体験</a:t>
            </a:r>
          </a:p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27272"/>
                </a:solidFill>
              </a:rPr>
              <a:t>• API によるアプリ組み込み</a:t>
            </a:r>
          </a:p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27272"/>
                </a:solidFill>
              </a:rPr>
              <a:t>• 企業向け管理・セキュリティ機能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7296" y="3749039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727272"/>
                </a:solidFill>
              </a:rPr>
              <a:t>&gt;</a:t>
            </a:r>
          </a:p>
        </p:txBody>
      </p:sp>
      <p:sp>
        <p:nvSpPr>
          <p:cNvPr id="11" name="Oval 10"/>
          <p:cNvSpPr/>
          <p:nvPr/>
        </p:nvSpPr>
        <p:spPr>
          <a:xfrm>
            <a:off x="5153088" y="1992757"/>
            <a:ext cx="457200" cy="457200"/>
          </a:xfrm>
          <a:prstGeom prst="ellipse">
            <a:avLst/>
          </a:prstGeom>
          <a:solidFill>
            <a:srgbClr val="F8F9FB"/>
          </a:solidFill>
          <a:ln w="1270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672" y="2093341"/>
            <a:ext cx="256032" cy="256032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1149258" y="1996476"/>
            <a:ext cx="457200" cy="457200"/>
          </a:xfrm>
          <a:prstGeom prst="ellipse">
            <a:avLst/>
          </a:prstGeom>
          <a:solidFill>
            <a:srgbClr val="F8F9FB"/>
          </a:solidFill>
          <a:ln w="1270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9842" y="2097060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主要な提供領域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7368" y="1191006"/>
            <a:ext cx="3755136" cy="501319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9936" y="1154430"/>
            <a:ext cx="3755136" cy="5013198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1648" y="1117854"/>
            <a:ext cx="3755136" cy="501319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>
          <a:noFill/>
          <a:ln>
            <a:noFill/>
          </a:ln>
        </p:spPr>
        <p:txBody>
          <a:bodyPr wrap="square" anchor="t" lIns="310896" tIns="896112" rIns="310896" bIns="256032"/>
          <a:lstStyle/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</a:rPr>
              <a:t>ChatGPT</a:t>
            </a:r>
          </a:p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343"/>
                </a:solidFill>
              </a:rPr>
              <a:t>文章作成、調査、分析、コーディング支援、画像・音声を含む対話型ワークスペース。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4152" y="1191006"/>
            <a:ext cx="3755136" cy="501319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36720" y="1154430"/>
            <a:ext cx="3755136" cy="5013198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18432" y="1117854"/>
            <a:ext cx="3755136" cy="501319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>
          <a:noFill/>
          <a:ln>
            <a:noFill/>
          </a:ln>
        </p:spPr>
        <p:txBody>
          <a:bodyPr wrap="square" anchor="t" lIns="310896" tIns="896112" rIns="310896" bIns="256032"/>
          <a:lstStyle/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</a:rPr>
              <a:t>OpenAI API</a:t>
            </a:r>
          </a:p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343"/>
                </a:solidFill>
              </a:rPr>
              <a:t>LLM、推論、ツール呼び出し、RAG、マルチモーダル処理を自社アプリに組み込むための開発者基盤。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0936" y="1191006"/>
            <a:ext cx="3755136" cy="501319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3503" y="1154430"/>
            <a:ext cx="3755136" cy="5013198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05215" y="1117854"/>
            <a:ext cx="3755136" cy="501319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tent Placeholder 4"/>
          <p:cNvSpPr>
            <a:spLocks noGrp="1"/>
          </p:cNvSpPr>
          <p:nvPr>
            <p:ph idx="15" sz="quarter"/>
          </p:nvPr>
        </p:nvSpPr>
        <p:spPr>
          <a:noFill/>
          <a:ln>
            <a:noFill/>
          </a:ln>
        </p:spPr>
        <p:txBody>
          <a:bodyPr wrap="square" anchor="t" lIns="310896" tIns="896112" rIns="310896" bIns="256032"/>
          <a:lstStyle/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</a:rPr>
              <a:t>Enterprise / Team</a:t>
            </a:r>
          </a:p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343"/>
                </a:solidFill>
              </a:rPr>
              <a:t>組織管理、アクセス制御、セキュリティ、運用ガバナンスを備えた業務利用向けプラン。</a:t>
            </a:r>
          </a:p>
        </p:txBody>
      </p:sp>
      <p:sp>
        <p:nvSpPr>
          <p:cNvPr id="9" name="Oval 8"/>
          <p:cNvSpPr/>
          <p:nvPr/>
        </p:nvSpPr>
        <p:spPr>
          <a:xfrm>
            <a:off x="487680" y="1428750"/>
            <a:ext cx="585216" cy="585216"/>
          </a:xfrm>
          <a:prstGeom prst="ellipse">
            <a:avLst/>
          </a:prstGeom>
          <a:solidFill>
            <a:srgbClr val="F8F9FB"/>
          </a:solidFill>
          <a:ln w="1270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96" y="1556766"/>
            <a:ext cx="256032" cy="256032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4474464" y="1428750"/>
            <a:ext cx="585216" cy="585216"/>
          </a:xfrm>
          <a:prstGeom prst="ellipse">
            <a:avLst/>
          </a:prstGeom>
          <a:solidFill>
            <a:srgbClr val="F8F9FB"/>
          </a:solidFill>
          <a:ln w="1270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480" y="1556766"/>
            <a:ext cx="256032" cy="256032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8461247" y="1428750"/>
            <a:ext cx="585216" cy="585216"/>
          </a:xfrm>
          <a:prstGeom prst="ellipse">
            <a:avLst/>
          </a:prstGeom>
          <a:solidFill>
            <a:srgbClr val="F8F9FB"/>
          </a:solidFill>
          <a:ln w="1270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9264" y="1556766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OpenAI の発展を捉える視点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148840" y="2011680"/>
            <a:ext cx="27432" cy="3547872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48256" y="192024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10512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27272"/>
                </a:solidFill>
              </a:rPr>
              <a:t>2015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2032" y="17922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</a:rPr>
              <a:t>設立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2032" y="2121408"/>
            <a:ext cx="5504688" cy="6309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343"/>
                </a:solidFill>
              </a:rPr>
              <a:t>AI 研究機関として設立。安全で有益な AGI を掲げる。</a:t>
            </a:r>
          </a:p>
        </p:txBody>
      </p:sp>
      <p:sp>
        <p:nvSpPr>
          <p:cNvPr id="9" name="Oval 8"/>
          <p:cNvSpPr/>
          <p:nvPr/>
        </p:nvSpPr>
        <p:spPr>
          <a:xfrm>
            <a:off x="2048256" y="280720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97479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27272"/>
                </a:solidFill>
              </a:rPr>
              <a:t>2020-2022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2679191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</a:rPr>
              <a:t>GPT 系モデルの普及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3008375"/>
            <a:ext cx="5504688" cy="6309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343"/>
                </a:solidFill>
              </a:rPr>
              <a:t>自然言語生成・理解の汎用性が実務利用に近づく。</a:t>
            </a:r>
          </a:p>
        </p:txBody>
      </p:sp>
      <p:sp>
        <p:nvSpPr>
          <p:cNvPr id="13" name="Oval 12"/>
          <p:cNvSpPr/>
          <p:nvPr/>
        </p:nvSpPr>
        <p:spPr>
          <a:xfrm>
            <a:off x="2048256" y="3694176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84448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27272"/>
                </a:solidFill>
              </a:rPr>
              <a:t>2022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35661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</a:rPr>
              <a:t>ChatGPT 公開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3895344"/>
            <a:ext cx="5504688" cy="6309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343"/>
                </a:solidFill>
              </a:rPr>
              <a:t>対話 UI により、生成 AI が一般ユーザーと企業に急速に広がる。</a:t>
            </a:r>
          </a:p>
        </p:txBody>
      </p:sp>
      <p:sp>
        <p:nvSpPr>
          <p:cNvPr id="17" name="Oval 16"/>
          <p:cNvSpPr/>
          <p:nvPr/>
        </p:nvSpPr>
        <p:spPr>
          <a:xfrm>
            <a:off x="2048256" y="4581144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71416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27272"/>
                </a:solidFill>
              </a:rPr>
              <a:t>2023-2024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445312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</a:rPr>
              <a:t>企業導入とマルチモーダル化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4782312"/>
            <a:ext cx="5504688" cy="6309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343"/>
                </a:solidFill>
              </a:rPr>
              <a:t>API、Enterprise、画像・音声・コード活用が拡大。</a:t>
            </a:r>
          </a:p>
        </p:txBody>
      </p:sp>
      <p:sp>
        <p:nvSpPr>
          <p:cNvPr id="21" name="Oval 20"/>
          <p:cNvSpPr/>
          <p:nvPr/>
        </p:nvSpPr>
        <p:spPr>
          <a:xfrm>
            <a:off x="2048256" y="5468112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58384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27272"/>
                </a:solidFill>
              </a:rPr>
              <a:t>2025-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2032" y="534009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</a:rPr>
              <a:t>AI エージェント化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669280"/>
            <a:ext cx="5504688" cy="6309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343"/>
                </a:solidFill>
              </a:rPr>
              <a:t>ツール利用、ワークフロー自動化、推論モデル活用が焦点になる。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企業での代表的ユースケース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7368" y="1191006"/>
            <a:ext cx="11728704" cy="146761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9936" y="1154430"/>
            <a:ext cx="11728704" cy="1467612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1648" y="1117854"/>
            <a:ext cx="11728704" cy="14676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>
          <a:noFill/>
          <a:ln>
            <a:noFill/>
          </a:ln>
        </p:spPr>
        <p:txBody>
          <a:bodyPr wrap="square" anchor="t" lIns="310896" tIns="896112" rIns="310896" bIns="256032"/>
          <a:lstStyle/>
          <a:p>
            <a:pPr algn="ctr">
              <a:buNone/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</a:rPr>
              <a:t>ナレッジ活用・社内検索</a:t>
            </a:r>
          </a:p>
          <a:p>
            <a:pPr algn="ctr">
              <a:buNone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343"/>
                </a:solidFill>
              </a:rPr>
              <a:t>社内文書、FAQ、マニュアル、議事録を横断検索し、根拠付き回答や要約を生成する。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368" y="2960370"/>
            <a:ext cx="11728704" cy="146761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9936" y="2923794"/>
            <a:ext cx="11728704" cy="1467612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1648" y="2887218"/>
            <a:ext cx="11728704" cy="14676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>
          <a:noFill/>
          <a:ln>
            <a:noFill/>
          </a:ln>
        </p:spPr>
        <p:txBody>
          <a:bodyPr wrap="square" anchor="t" lIns="310896" tIns="896112" rIns="310896" bIns="256032"/>
          <a:lstStyle/>
          <a:p>
            <a:pPr algn="ctr">
              <a:buNone/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</a:rPr>
              <a:t>開発・運用支援</a:t>
            </a:r>
          </a:p>
          <a:p>
            <a:pPr algn="ctr">
              <a:buNone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343"/>
                </a:solidFill>
              </a:rPr>
              <a:t>仕様整理、コード生成、テスト作成、障害調査、ログ分析を支援し、開発生産性を高める。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7368" y="4729734"/>
            <a:ext cx="11728704" cy="146761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9936" y="4693158"/>
            <a:ext cx="11728704" cy="1467612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31648" y="4656582"/>
            <a:ext cx="11728704" cy="14676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tent Placeholder 4"/>
          <p:cNvSpPr>
            <a:spLocks noGrp="1"/>
          </p:cNvSpPr>
          <p:nvPr>
            <p:ph idx="15" sz="quarter"/>
          </p:nvPr>
        </p:nvSpPr>
        <p:spPr>
          <a:noFill/>
          <a:ln>
            <a:noFill/>
          </a:ln>
        </p:spPr>
        <p:txBody>
          <a:bodyPr wrap="square" anchor="t" lIns="310896" tIns="896112" rIns="310896" bIns="256032"/>
          <a:lstStyle/>
          <a:p>
            <a:pPr algn="ctr">
              <a:buNone/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</a:rPr>
              <a:t>顧客接点の高度化</a:t>
            </a:r>
          </a:p>
          <a:p>
            <a:pPr algn="ctr">
              <a:buNone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343"/>
                </a:solidFill>
              </a:rPr>
              <a:t>コンタクトセンター、営業支援、FAQ ボット、メール作成補助で応答品質と処理速度を改善する。</a:t>
            </a:r>
          </a:p>
        </p:txBody>
      </p:sp>
      <p:sp>
        <p:nvSpPr>
          <p:cNvPr id="9" name="Oval 8"/>
          <p:cNvSpPr/>
          <p:nvPr/>
        </p:nvSpPr>
        <p:spPr>
          <a:xfrm>
            <a:off x="5803392" y="1428750"/>
            <a:ext cx="585216" cy="585216"/>
          </a:xfrm>
          <a:prstGeom prst="ellipse">
            <a:avLst/>
          </a:prstGeom>
          <a:solidFill>
            <a:srgbClr val="F8F9FB"/>
          </a:solidFill>
          <a:ln w="1270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408" y="1556766"/>
            <a:ext cx="256032" cy="256032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5803392" y="3198114"/>
            <a:ext cx="585216" cy="585216"/>
          </a:xfrm>
          <a:prstGeom prst="ellipse">
            <a:avLst/>
          </a:prstGeom>
          <a:solidFill>
            <a:srgbClr val="F8F9FB"/>
          </a:solidFill>
          <a:ln w="1270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408" y="3326130"/>
            <a:ext cx="256032" cy="256032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5803392" y="4967478"/>
            <a:ext cx="585216" cy="585216"/>
          </a:xfrm>
          <a:prstGeom prst="ellipse">
            <a:avLst/>
          </a:prstGeom>
          <a:solidFill>
            <a:srgbClr val="F8F9FB"/>
          </a:solidFill>
          <a:ln w="1270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408" y="5095494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導入優先度の例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26422" y="1114425"/>
          <a:ext cx="11730445" cy="49989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コア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業務統合レイヤー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OpenAI 活用アーキテクチャの基本形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140" y="1809877"/>
            <a:ext cx="5734051" cy="442894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3709" y="1773301"/>
            <a:ext cx="5734051" cy="4428944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5421" y="1736725"/>
            <a:ext cx="5734051" cy="44289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tent Placeholder 4"/>
          <p:cNvSpPr>
            <a:spLocks noGrp="1"/>
          </p:cNvSpPr>
          <p:nvPr>
            <p:ph idx="13" sz="quarter"/>
          </p:nvPr>
        </p:nvSpPr>
        <p:spPr>
          <a:noFill/>
          <a:ln>
            <a:noFill/>
          </a:ln>
        </p:spPr>
        <p:txBody>
          <a:bodyPr wrap="square" anchor="t" lIns="365760" tIns="310896" rIns="365760" bIns="292608"/>
          <a:lstStyle/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34343"/>
                </a:solidFill>
              </a:rPr>
              <a:t>OpenAI モデルを中核に、プロンプト、ツール呼び出し、構造化出力、評価を設計する。</a:t>
            </a:r>
          </a:p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27272"/>
                </a:solidFill>
              </a:rPr>
              <a:t>• モデル選択とコスト設計</a:t>
            </a:r>
          </a:p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27272"/>
                </a:solidFill>
              </a:rPr>
              <a:t>• System Prompt / Tool 定義</a:t>
            </a:r>
          </a:p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27272"/>
                </a:solidFill>
              </a:rPr>
              <a:t>• 出力形式と検証ルール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8536" y="1813596"/>
            <a:ext cx="5712825" cy="442894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1104" y="1777020"/>
            <a:ext cx="5712825" cy="4428944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22817" y="1740444"/>
            <a:ext cx="5712825" cy="44289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 Placeholder 5"/>
          <p:cNvSpPr>
            <a:spLocks noGrp="1"/>
          </p:cNvSpPr>
          <p:nvPr>
            <p:ph idx="14" sz="quarter"/>
          </p:nvPr>
        </p:nvSpPr>
        <p:spPr>
          <a:noFill/>
          <a:ln>
            <a:noFill/>
          </a:ln>
        </p:spPr>
        <p:txBody>
          <a:bodyPr wrap="square" anchor="t" lIns="365760" tIns="310896" rIns="365760" bIns="292608"/>
          <a:lstStyle/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34343"/>
                </a:solidFill>
              </a:rPr>
              <a:t>RAG、認証、監査ログ、権限制御、既存システム連携を実装し、業務アプリとして運用する。</a:t>
            </a:r>
          </a:p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27272"/>
                </a:solidFill>
              </a:rPr>
              <a:t>• 検索・ベクトル DB・文書管理</a:t>
            </a:r>
          </a:p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27272"/>
                </a:solidFill>
              </a:rPr>
              <a:t>• 権限に応じたコンテキスト制御</a:t>
            </a:r>
          </a:p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27272"/>
                </a:solidFill>
              </a:rPr>
              <a:t>• モニタリングと人手レビュー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7296" y="3749039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727272"/>
                </a:solidFill>
              </a:rPr>
              <a:t>&gt;</a:t>
            </a:r>
          </a:p>
        </p:txBody>
      </p:sp>
      <p:sp>
        <p:nvSpPr>
          <p:cNvPr id="11" name="Oval 10"/>
          <p:cNvSpPr/>
          <p:nvPr/>
        </p:nvSpPr>
        <p:spPr>
          <a:xfrm>
            <a:off x="5153088" y="1992757"/>
            <a:ext cx="457200" cy="457200"/>
          </a:xfrm>
          <a:prstGeom prst="ellipse">
            <a:avLst/>
          </a:prstGeom>
          <a:solidFill>
            <a:srgbClr val="F8F9FB"/>
          </a:solidFill>
          <a:ln w="1270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672" y="2093341"/>
            <a:ext cx="256032" cy="256032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1149258" y="1996476"/>
            <a:ext cx="457200" cy="457200"/>
          </a:xfrm>
          <a:prstGeom prst="ellipse">
            <a:avLst/>
          </a:prstGeom>
          <a:solidFill>
            <a:srgbClr val="F8F9FB"/>
          </a:solidFill>
          <a:ln w="1270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9842" y="2097060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導入時に見るべき論点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6422" y="1114425"/>
          <a:ext cx="11730445" cy="4998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0148"/>
                <a:gridCol w="3910148"/>
                <a:gridCol w="3910149"/>
              </a:tblGrid>
              <a:tr h="999798">
                <a:tc>
                  <a:txBody>
                    <a:bodyPr/>
                    <a:lstStyle/>
                    <a:p>
                      <a:r>
                        <a:t>観点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確認ポイント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実務上の対策</a:t>
                      </a:r>
                    </a:p>
                  </a:txBody>
                  <a:tcPr/>
                </a:tc>
              </a:tr>
              <a:tr h="999798">
                <a:tc>
                  <a:txBody>
                    <a:bodyPr/>
                    <a:lstStyle/>
                    <a:p>
                      <a:r>
                        <a:t>正確性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幻覚・古い情報・根拠不明の回答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RAG、引用表示、評価データセット、人手確認</a:t>
                      </a:r>
                    </a:p>
                  </a:txBody>
                  <a:tcPr/>
                </a:tc>
              </a:tr>
              <a:tr h="999798">
                <a:tc>
                  <a:txBody>
                    <a:bodyPr/>
                    <a:lstStyle/>
                    <a:p>
                      <a:r>
                        <a:t>セキュリティ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機密情報、権限外参照、プロンプトインジェクション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入力制御、権限継承、監査ログ、レッドチーム評価</a:t>
                      </a:r>
                    </a:p>
                  </a:txBody>
                  <a:tcPr/>
                </a:tc>
              </a:tr>
              <a:tr h="999798">
                <a:tc>
                  <a:txBody>
                    <a:bodyPr/>
                    <a:lstStyle/>
                    <a:p>
                      <a:r>
                        <a:t>コスト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トークン量、モデル単価、ピーク時負荷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モデル階層化、キャッシュ、要約、非同期処理</a:t>
                      </a:r>
                    </a:p>
                  </a:txBody>
                  <a:tcPr/>
                </a:tc>
              </a:tr>
              <a:tr h="999800">
                <a:tc>
                  <a:txBody>
                    <a:bodyPr/>
                    <a:lstStyle/>
                    <a:p>
                      <a:r>
                        <a:t>運用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品質劣化、モデル変更、問い合わせ対応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継続評価、A/B テスト、フォールバック、運用 Runbook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導入ロードマップ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7368" y="1191006"/>
            <a:ext cx="3755136" cy="501319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9936" y="1154430"/>
            <a:ext cx="3755136" cy="5013198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1648" y="1117854"/>
            <a:ext cx="3755136" cy="501319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>
          <a:noFill/>
          <a:ln>
            <a:noFill/>
          </a:ln>
        </p:spPr>
        <p:txBody>
          <a:bodyPr wrap="square" anchor="t" lIns="310896" tIns="896112" rIns="310896" bIns="256032"/>
          <a:lstStyle/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</a:rPr>
              <a:t>1. テーマ選定</a:t>
            </a:r>
          </a:p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343"/>
                </a:solidFill>
              </a:rPr>
              <a:t>業務量、効果、リスク、データ可用性を見て、最初のユースケースを絞る。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4152" y="1191006"/>
            <a:ext cx="3755136" cy="501319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36720" y="1154430"/>
            <a:ext cx="3755136" cy="5013198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18432" y="1117854"/>
            <a:ext cx="3755136" cy="501319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>
          <a:noFill/>
          <a:ln>
            <a:noFill/>
          </a:ln>
        </p:spPr>
        <p:txBody>
          <a:bodyPr wrap="square" anchor="t" lIns="310896" tIns="896112" rIns="310896" bIns="256032"/>
          <a:lstStyle/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</a:rPr>
              <a:t>2. 検証・評価</a:t>
            </a:r>
          </a:p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343"/>
                </a:solidFill>
              </a:rPr>
              <a:t>プロンプト、RAG、モデル、UI を試作し、業務指標と評価セットで効果を測る。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0936" y="1191006"/>
            <a:ext cx="3755136" cy="501319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3503" y="1154430"/>
            <a:ext cx="3755136" cy="5013198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05215" y="1117854"/>
            <a:ext cx="3755136" cy="501319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tent Placeholder 4"/>
          <p:cNvSpPr>
            <a:spLocks noGrp="1"/>
          </p:cNvSpPr>
          <p:nvPr>
            <p:ph idx="15" sz="quarter"/>
          </p:nvPr>
        </p:nvSpPr>
        <p:spPr>
          <a:noFill/>
          <a:ln>
            <a:noFill/>
          </a:ln>
        </p:spPr>
        <p:txBody>
          <a:bodyPr wrap="square" anchor="t" lIns="310896" tIns="896112" rIns="310896" bIns="256032"/>
          <a:lstStyle/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</a:rPr>
              <a:t>3. 本番展開</a:t>
            </a:r>
          </a:p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343"/>
                </a:solidFill>
              </a:rPr>
              <a:t>権限、監査、モニタリング、教育、改善サイクルを整え、業務プロセスに組み込む。</a:t>
            </a:r>
          </a:p>
        </p:txBody>
      </p:sp>
      <p:sp>
        <p:nvSpPr>
          <p:cNvPr id="9" name="Oval 8"/>
          <p:cNvSpPr/>
          <p:nvPr/>
        </p:nvSpPr>
        <p:spPr>
          <a:xfrm>
            <a:off x="487680" y="1428750"/>
            <a:ext cx="585216" cy="585216"/>
          </a:xfrm>
          <a:prstGeom prst="ellipse">
            <a:avLst/>
          </a:prstGeom>
          <a:solidFill>
            <a:srgbClr val="F8F9FB"/>
          </a:solidFill>
          <a:ln w="1270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96" y="1556766"/>
            <a:ext cx="256032" cy="256032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4474464" y="1428750"/>
            <a:ext cx="585216" cy="585216"/>
          </a:xfrm>
          <a:prstGeom prst="ellipse">
            <a:avLst/>
          </a:prstGeom>
          <a:solidFill>
            <a:srgbClr val="F8F9FB"/>
          </a:solidFill>
          <a:ln w="1270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480" y="1556766"/>
            <a:ext cx="256032" cy="256032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8461247" y="1428750"/>
            <a:ext cx="585216" cy="585216"/>
          </a:xfrm>
          <a:prstGeom prst="ellipse">
            <a:avLst/>
          </a:prstGeom>
          <a:solidFill>
            <a:srgbClr val="F8F9FB"/>
          </a:solidFill>
          <a:ln w="1270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9264" y="1556766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OpenAI は生成 AI 活用の中核候補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IZ UDPGothic">
      <a:majorFont>
        <a:latin typeface="BIZ UDPGothic"/>
        <a:ea typeface="BIZ UDPGothic"/>
        <a:cs typeface="BIZ UDPGothic"/>
      </a:majorFont>
      <a:minorFont>
        <a:latin typeface="BIZ UDPGothic"/>
        <a:ea typeface="BIZ UDPGothic"/>
        <a:cs typeface="BIZ UDP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Macintosh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3" baseType="lpstr">
      <vt:lpstr>BIZ UDPGothic</vt:lpstr>
      <vt:lpstr>Arial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向山 裕一朗</cp:lastModifiedBy>
  <cp:revision>2</cp:revision>
  <dcterms:created xsi:type="dcterms:W3CDTF">2013-01-27T09:14:16Z</dcterms:created>
  <dcterms:modified xsi:type="dcterms:W3CDTF">2026-05-03T05:48:05Z</dcterms:modified>
  <cp:category/>
</cp:coreProperties>
</file>