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7"/>
  </p:normalViewPr>
  <p:slideViewPr>
    <p:cSldViewPr snapToGrid="0" snapToObjects="1">
      <p:cViewPr varScale="1">
        <p:scale>
          <a:sx n="146" d="100"/>
          <a:sy n="146" d="100"/>
        </p:scale>
        <p:origin x="184" y="1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受付網羅率</c:v>
                </c:pt>
              </c:strCache>
            </c:strRef>
          </c:tx>
          <c:spPr>
            <a:solidFill>
              <a:srgbClr val="191919"/>
            </a:solidFill>
            <a:ln w="12700">
              <a:solidFill>
                <a:srgbClr val="191919"/>
              </a:solidFill>
            </a:ln>
          </c:spPr>
          <c:dPt>
            <c:idx val="0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58</c:v>
                </c:pt>
                <c:pt idx="2">
                  <c:v>76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証跡自動化</c:v>
                </c:pt>
              </c:strCache>
            </c:strRef>
          </c:tx>
          <c:spPr>
            <a:solidFill>
              <a:srgbClr val="242424"/>
            </a:solidFill>
            <a:ln w="12700">
              <a:solidFill>
                <a:srgbClr val="242424"/>
              </a:solidFill>
            </a:ln>
          </c:spPr>
          <c:dPt>
            <c:idx val="0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36</c:v>
                </c:pt>
                <c:pt idx="2">
                  <c:v>61</c:v>
                </c:pt>
                <c:pt idx="3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7620">
            <a:solidFill>
              <a:srgbClr val="D9D9D6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5715">
              <a:solidFill>
                <a:srgbClr val="D9D9D6"/>
              </a:solidFill>
            </a:ln>
          </c:spPr>
        </c:majorGridlines>
        <c:majorTickMark val="out"/>
        <c:minorTickMark val="none"/>
        <c:tickLblPos val="nextTo"/>
        <c:spPr>
          <a:ln w="7620">
            <a:solidFill>
              <a:srgbClr val="D9D9D6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66666"/>
          </a:solidFill>
          <a:latin typeface="Apto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over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subTitle" idx="1"/>
          </p:nvPr>
        </p:nvSpPr>
        <p:spPr>
          <a:xfrm>
            <a:off x="731520" y="3737610"/>
            <a:ext cx="6644640" cy="61722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23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125980"/>
            <a:ext cx="7010400" cy="1405890"/>
          </a:xfrm>
        </p:spPr>
        <p:txBody>
          <a:bodyPr/>
          <a:lstStyle>
            <a:lvl1pPr>
              <a:defRPr sz="50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5" name="AI_DATE"/>
          <p:cNvSpPr>
            <a:spLocks noGrp="1"/>
          </p:cNvSpPr>
          <p:nvPr>
            <p:ph type="body" idx="13"/>
          </p:nvPr>
        </p:nvSpPr>
        <p:spPr>
          <a:xfrm>
            <a:off x="731520" y="4834890"/>
            <a:ext cx="231648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30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6" name="AI_ORGANIZATION"/>
          <p:cNvSpPr>
            <a:spLocks noGrp="1"/>
          </p:cNvSpPr>
          <p:nvPr>
            <p:ph type="body" idx="14"/>
          </p:nvPr>
        </p:nvSpPr>
        <p:spPr>
          <a:xfrm>
            <a:off x="731520" y="5383530"/>
            <a:ext cx="4023360" cy="288036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7" name="AI_AUTHOR"/>
          <p:cNvSpPr>
            <a:spLocks noGrp="1"/>
          </p:cNvSpPr>
          <p:nvPr>
            <p:ph type="body" idx="15"/>
          </p:nvPr>
        </p:nvSpPr>
        <p:spPr>
          <a:xfrm>
            <a:off x="7802880" y="5383530"/>
            <a:ext cx="3474720" cy="288036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43616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ITEMS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11338560" cy="4114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section_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body" idx="1"/>
          </p:nvPr>
        </p:nvSpPr>
        <p:spPr>
          <a:xfrm>
            <a:off x="731520" y="4080510"/>
            <a:ext cx="6583680" cy="54864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80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4E21F2C5-D692-C035-AB8E-E7F5E227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51810"/>
            <a:ext cx="6888480" cy="857250"/>
          </a:xfrm>
        </p:spPr>
        <p:txBody>
          <a:bodyPr/>
          <a:lstStyle>
            <a:lvl1pPr>
              <a:defRPr sz="43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7D32573A-B4BF-D855-B118-08296328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516884CF-46E6-857C-323C-6CEAC631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0805F50-61D4-6BF5-5910-DB5ACA39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AI_SECTION_NO"/>
          <p:cNvSpPr>
            <a:spLocks noGrp="1"/>
          </p:cNvSpPr>
          <p:nvPr>
            <p:ph type="body" idx="13"/>
          </p:nvPr>
        </p:nvSpPr>
        <p:spPr>
          <a:xfrm>
            <a:off x="670560" y="994410"/>
            <a:ext cx="3230880" cy="130302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8600" b="1">
                <a:solidFill>
                  <a:srgbClr val="191919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list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43616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ITEMS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11338560" cy="4114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omparison_2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eco_left_panel"/>
          <p:cNvSpPr>
            <a:spLocks noGrp="1"/>
          </p:cNvSpPr>
          <p:nvPr/>
        </p:nvSpPr>
        <p:spPr>
          <a:xfrm>
            <a:off x="268224" y="1405890"/>
            <a:ext cx="5657088" cy="449199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right_panel"/>
          <p:cNvSpPr>
            <a:spLocks noGrp="1"/>
          </p:cNvSpPr>
          <p:nvPr/>
        </p:nvSpPr>
        <p:spPr>
          <a:xfrm>
            <a:off x="6266688" y="1405890"/>
            <a:ext cx="5657088" cy="449199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left_badge"/>
          <p:cNvSpPr>
            <a:spLocks noGrp="1"/>
          </p:cNvSpPr>
          <p:nvPr/>
        </p:nvSpPr>
        <p:spPr>
          <a:xfrm>
            <a:off x="829056" y="1611630"/>
            <a:ext cx="534924" cy="5349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deco_right_badge"/>
          <p:cNvSpPr>
            <a:spLocks noGrp="1"/>
          </p:cNvSpPr>
          <p:nvPr/>
        </p:nvSpPr>
        <p:spPr>
          <a:xfrm>
            <a:off x="7046976" y="1611630"/>
            <a:ext cx="534924" cy="5349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deco_divider"/>
          <p:cNvSpPr>
            <a:spLocks noGrp="1"/>
          </p:cNvSpPr>
          <p:nvPr/>
        </p:nvSpPr>
        <p:spPr>
          <a:xfrm>
            <a:off x="6071616" y="1543050"/>
            <a:ext cx="24384" cy="4149090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LEFT_TITLE"/>
          <p:cNvSpPr>
            <a:spLocks noGrp="1"/>
          </p:cNvSpPr>
          <p:nvPr>
            <p:ph type="body" idx="1"/>
          </p:nvPr>
        </p:nvSpPr>
        <p:spPr>
          <a:xfrm>
            <a:off x="1463040" y="1728216"/>
            <a:ext cx="3657600" cy="37719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>
              <a:defRPr sz="1550" b="1">
                <a:solidFill>
                  <a:srgbClr val="191919"/>
                </a:solidFill>
              </a:defRPr>
            </a:lvl1pPr>
          </a:lstStyle>
          <a:p>
            <a:pPr lvl="0" algn="l"/>
            <a:endParaRPr lang="en-US" dirty="0"/>
          </a:p>
        </p:txBody>
      </p:sp>
      <p:sp>
        <p:nvSpPr>
          <p:cNvPr id="5" name="AI_RIGHT_TITLE"/>
          <p:cNvSpPr>
            <a:spLocks noGrp="1"/>
          </p:cNvSpPr>
          <p:nvPr>
            <p:ph type="body" sz="quarter" idx="3"/>
          </p:nvPr>
        </p:nvSpPr>
        <p:spPr>
          <a:xfrm>
            <a:off x="7680960" y="1728216"/>
            <a:ext cx="3657600" cy="37719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>
              <a:defRPr sz="1550" b="1">
                <a:solidFill>
                  <a:srgbClr val="191919"/>
                </a:solidFill>
              </a:defRPr>
            </a:lvl1pPr>
          </a:lstStyle>
          <a:p>
            <a:pPr lvl="0" algn="l"/>
            <a:endParaRPr lang="en-US" dirty="0"/>
          </a:p>
        </p:txBody>
      </p:sp>
      <p:sp>
        <p:nvSpPr>
          <p:cNvPr id="10" name="AI_TITLE">
            <a:extLst>
              <a:ext uri="{FF2B5EF4-FFF2-40B4-BE49-F238E27FC236}">
                <a16:creationId xmlns:a16="http://schemas.microsoft.com/office/drawing/2014/main" id="{742611C5-3334-7E2B-59D2-B8B82948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873B0EB2-52CE-9FBE-5229-B24CF5D7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2A7F14D4-BBB3-0D79-5D1A-8E028278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F8DE6177-18F6-D7A0-7D6F-64E793A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AI_LEFT_DESCRIPTION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0560" y="2263140"/>
            <a:ext cx="4754880" cy="89154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RIGHT_DESCRIPTION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8480" y="2263140"/>
            <a:ext cx="4754880" cy="89154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AI_SUBTITLE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9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AI_LEFT_BULLETS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7" type="obj"/>
          </p:nvPr>
        </p:nvSpPr>
        <p:spPr>
          <a:xfrm>
            <a:off x="670560" y="3326130"/>
            <a:ext cx="4754880" cy="195453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0" name="AI_RIGHT_BULLETS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8" type="obj"/>
          </p:nvPr>
        </p:nvSpPr>
        <p:spPr>
          <a:xfrm>
            <a:off x="6888480" y="3326130"/>
            <a:ext cx="4754880" cy="195453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1" name="AI_LEFT_ICON"/>
          <p:cNvSpPr>
            <a:spLocks noGrp="1"/>
          </p:cNvSpPr>
          <p:nvPr>
            <p:ph type="pic" idx="15"/>
          </p:nvPr>
        </p:nvSpPr>
        <p:spPr>
          <a:xfrm>
            <a:off x="973074" y="1755648"/>
            <a:ext cx="246888" cy="24688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2" name="AI_RIGHT_ICON"/>
          <p:cNvSpPr>
            <a:spLocks noGrp="1"/>
          </p:cNvSpPr>
          <p:nvPr>
            <p:ph type="pic" idx="16"/>
          </p:nvPr>
        </p:nvSpPr>
        <p:spPr>
          <a:xfrm>
            <a:off x="7190994" y="1755648"/>
            <a:ext cx="246888" cy="24688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able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36758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TAB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tbl"/>
          </p:nvPr>
        </p:nvSpPr>
        <p:spPr>
          <a:xfrm>
            <a:off x="426720" y="1543050"/>
            <a:ext cx="11338560" cy="342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AI_CAPTION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426720" y="5349240"/>
            <a:ext cx="11338560" cy="37719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hart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36758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CHAR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chart"/>
          </p:nvPr>
        </p:nvSpPr>
        <p:spPr>
          <a:xfrm>
            <a:off x="426720" y="1543050"/>
            <a:ext cx="11338560" cy="342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AI_CAPTION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426720" y="5349240"/>
            <a:ext cx="11338560" cy="37719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appendix_back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eco_body_panel"/>
          <p:cNvSpPr>
            <a:spLocks noGrp="1"/>
          </p:cNvSpPr>
          <p:nvPr/>
        </p:nvSpPr>
        <p:spPr>
          <a:xfrm>
            <a:off x="268224" y="1405890"/>
            <a:ext cx="5547360" cy="445770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refs_panel"/>
          <p:cNvSpPr>
            <a:spLocks noGrp="1"/>
          </p:cNvSpPr>
          <p:nvPr/>
        </p:nvSpPr>
        <p:spPr>
          <a:xfrm>
            <a:off x="6096000" y="1405890"/>
            <a:ext cx="5827776" cy="445770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col_divider"/>
          <p:cNvSpPr>
            <a:spLocks noGrp="1"/>
          </p:cNvSpPr>
          <p:nvPr/>
        </p:nvSpPr>
        <p:spPr>
          <a:xfrm>
            <a:off x="5949696" y="1680210"/>
            <a:ext cx="24384" cy="3840480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AI_BODY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5242560" cy="2057400"/>
          </a:xfrm>
        </p:spPr>
        <p:txBody>
          <a:bodyPr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AI_REFERENCES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6278880" y="1543050"/>
            <a:ext cx="5486400" cy="4114800"/>
          </a:xfrm>
        </p:spPr>
        <p:txBody>
          <a:bodyPr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AI_SUB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ITEMS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6" type="obj"/>
          </p:nvPr>
        </p:nvSpPr>
        <p:spPr>
          <a:xfrm>
            <a:off x="426720" y="3874770"/>
            <a:ext cx="5242560" cy="178308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image_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eco_media_panel"/>
          <p:cNvSpPr>
            <a:spLocks noGrp="1"/>
          </p:cNvSpPr>
          <p:nvPr/>
        </p:nvSpPr>
        <p:spPr>
          <a:xfrm>
            <a:off x="670560" y="1680210"/>
            <a:ext cx="4389120" cy="322326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caption_panel"/>
          <p:cNvSpPr>
            <a:spLocks noGrp="1"/>
          </p:cNvSpPr>
          <p:nvPr/>
        </p:nvSpPr>
        <p:spPr>
          <a:xfrm>
            <a:off x="5303520" y="1680210"/>
            <a:ext cx="5974080" cy="32232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ICON"/>
          <p:cNvSpPr>
            <a:spLocks noGrp="1"/>
          </p:cNvSpPr>
          <p:nvPr>
            <p:ph type="pic" idx="1"/>
          </p:nvPr>
        </p:nvSpPr>
        <p:spPr>
          <a:xfrm>
            <a:off x="2110740" y="2537460"/>
            <a:ext cx="1508760" cy="150876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4" name="AI_CAPTION"/>
          <p:cNvSpPr>
            <a:spLocks noGrp="1"/>
          </p:cNvSpPr>
          <p:nvPr>
            <p:ph type="body" sz="half" idx="2"/>
          </p:nvPr>
        </p:nvSpPr>
        <p:spPr>
          <a:xfrm>
            <a:off x="5547360" y="2160270"/>
            <a:ext cx="5486400" cy="209169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3E4DDDEC-1DB2-EF3B-AA3A-651334DC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SUBTITLE"/>
          <p:cNvSpPr>
            <a:spLocks noGrp="1"/>
          </p:cNvSpPr>
          <p:nvPr>
            <p:ph type="body" sz="half" idx="13"/>
          </p:nvPr>
        </p:nvSpPr>
        <p:spPr>
          <a:xfrm>
            <a:off x="670560" y="1042416"/>
            <a:ext cx="10728960" cy="34290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10" name="AI_ATTRIBUTION"/>
          <p:cNvSpPr>
            <a:spLocks noGrp="1"/>
          </p:cNvSpPr>
          <p:nvPr>
            <p:ph type="body" sz="half" idx="14"/>
          </p:nvPr>
        </p:nvSpPr>
        <p:spPr>
          <a:xfrm>
            <a:off x="5547360" y="4732020"/>
            <a:ext cx="5486400" cy="37719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15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losing_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subTitle" idx="1"/>
          </p:nvPr>
        </p:nvSpPr>
        <p:spPr>
          <a:xfrm>
            <a:off x="731520" y="2846070"/>
            <a:ext cx="6096000" cy="48006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9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817370"/>
            <a:ext cx="6339840" cy="822960"/>
          </a:xfrm>
        </p:spPr>
        <p:txBody>
          <a:bodyPr/>
          <a:lstStyle>
            <a:lvl1pPr>
              <a:defRPr sz="46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5" name="AI_MESSAGE"/>
          <p:cNvSpPr>
            <a:spLocks noGrp="1"/>
          </p:cNvSpPr>
          <p:nvPr>
            <p:ph type="body" idx="13"/>
          </p:nvPr>
        </p:nvSpPr>
        <p:spPr>
          <a:xfrm>
            <a:off x="731520" y="3806190"/>
            <a:ext cx="6339840" cy="82296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20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6" name="AI_CONTACT"/>
          <p:cNvSpPr>
            <a:spLocks noGrp="1"/>
          </p:cNvSpPr>
          <p:nvPr>
            <p:ph type="body" idx="14"/>
          </p:nvPr>
        </p:nvSpPr>
        <p:spPr>
          <a:xfrm>
            <a:off x="731520" y="5520690"/>
            <a:ext cx="414528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7" name="AI_CTA"/>
          <p:cNvSpPr>
            <a:spLocks noGrp="1"/>
          </p:cNvSpPr>
          <p:nvPr>
            <p:ph type="body" idx="15"/>
          </p:nvPr>
        </p:nvSpPr>
        <p:spPr>
          <a:xfrm>
            <a:off x="731520" y="4903470"/>
            <a:ext cx="633984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00" b="1">
                <a:solidFill>
                  <a:srgbClr val="191919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hree_cards_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h_card1_bg"/>
          <p:cNvSpPr>
            <a:spLocks noGrp="1"/>
          </p:cNvSpPr>
          <p:nvPr/>
        </p:nvSpPr>
        <p:spPr>
          <a:xfrm>
            <a:off x="365760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h_card1_badge"/>
          <p:cNvSpPr>
            <a:spLocks noGrp="1"/>
          </p:cNvSpPr>
          <p:nvPr/>
        </p:nvSpPr>
        <p:spPr>
          <a:xfrm>
            <a:off x="1767078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h_card2_bg"/>
          <p:cNvSpPr>
            <a:spLocks noGrp="1"/>
          </p:cNvSpPr>
          <p:nvPr/>
        </p:nvSpPr>
        <p:spPr>
          <a:xfrm>
            <a:off x="4364736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h_card2_badge"/>
          <p:cNvSpPr>
            <a:spLocks noGrp="1"/>
          </p:cNvSpPr>
          <p:nvPr/>
        </p:nvSpPr>
        <p:spPr>
          <a:xfrm>
            <a:off x="5766054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h_card3_bg"/>
          <p:cNvSpPr>
            <a:spLocks noGrp="1"/>
          </p:cNvSpPr>
          <p:nvPr/>
        </p:nvSpPr>
        <p:spPr>
          <a:xfrm>
            <a:off x="8351520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h_card3_badge"/>
          <p:cNvSpPr>
            <a:spLocks noGrp="1"/>
          </p:cNvSpPr>
          <p:nvPr/>
        </p:nvSpPr>
        <p:spPr>
          <a:xfrm>
            <a:off x="9752838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AI_CARDS_1_DESCRIPTION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694944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AI_CARDS_2_DESCRIPTION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4693920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AI_CARDS_3_DESCRIPTION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5" type="obj"/>
          </p:nvPr>
        </p:nvSpPr>
        <p:spPr>
          <a:xfrm>
            <a:off x="8680704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SUB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9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AI_CARDS_1_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20" type="body"/>
          </p:nvPr>
        </p:nvSpPr>
        <p:spPr>
          <a:xfrm>
            <a:off x="694944" y="3140964"/>
            <a:ext cx="2816352" cy="445770"/>
          </a:xfrm>
        </p:spPr>
        <p:txBody>
          <a:bodyPr/>
          <a:lstStyle>
            <a:lvl1pPr algn="ctr">
              <a:defRPr sz="1650" b="1">
                <a:solidFill>
                  <a:srgbClr val="191919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テキストの書式設定</a:t>
            </a:r>
          </a:p>
          <a:p>
            <a:pPr lvl="1" algn="ctr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 algn="ctr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 algn="ctr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 algn="ctr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AI_CARDS_1_ICON"/>
          <p:cNvSpPr>
            <a:spLocks noGrp="1"/>
          </p:cNvSpPr>
          <p:nvPr>
            <p:ph type="pic" idx="16"/>
          </p:nvPr>
        </p:nvSpPr>
        <p:spPr>
          <a:xfrm>
            <a:off x="1945386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0" name="AI_CARDS_2_TITLE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21" type="body"/>
          </p:nvPr>
        </p:nvSpPr>
        <p:spPr>
          <a:xfrm>
            <a:off x="4693920" y="3140964"/>
            <a:ext cx="2816352" cy="445770"/>
          </a:xfrm>
        </p:spPr>
        <p:txBody>
          <a:bodyPr/>
          <a:lstStyle>
            <a:lvl1pPr algn="ctr">
              <a:defRPr sz="1650" b="1">
                <a:solidFill>
                  <a:srgbClr val="191919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テキストの書式設定</a:t>
            </a:r>
          </a:p>
          <a:p>
            <a:pPr lvl="1" algn="ctr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 algn="ctr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 algn="ctr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 algn="ctr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1" name="AI_CARDS_2_ICON"/>
          <p:cNvSpPr>
            <a:spLocks noGrp="1"/>
          </p:cNvSpPr>
          <p:nvPr>
            <p:ph type="pic" idx="17"/>
          </p:nvPr>
        </p:nvSpPr>
        <p:spPr>
          <a:xfrm>
            <a:off x="5944362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2" name="AI_CARDS_3_TITLE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22" type="body"/>
          </p:nvPr>
        </p:nvSpPr>
        <p:spPr>
          <a:xfrm>
            <a:off x="8680704" y="3140964"/>
            <a:ext cx="2816352" cy="445770"/>
          </a:xfrm>
        </p:spPr>
        <p:txBody>
          <a:bodyPr/>
          <a:lstStyle>
            <a:lvl1pPr algn="ctr">
              <a:defRPr sz="1650" b="1">
                <a:solidFill>
                  <a:srgbClr val="191919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テキストの書式設定</a:t>
            </a:r>
          </a:p>
          <a:p>
            <a:pPr lvl="1" algn="ctr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 algn="ctr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 algn="ctr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 algn="ctr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3" name="AI_CARDS_3_ICON"/>
          <p:cNvSpPr>
            <a:spLocks noGrp="1"/>
          </p:cNvSpPr>
          <p:nvPr>
            <p:ph type="pic" idx="18"/>
          </p:nvPr>
        </p:nvSpPr>
        <p:spPr>
          <a:xfrm>
            <a:off x="9931146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423" y="218737"/>
            <a:ext cx="11730445" cy="64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AI_MASTER_PLACEHOLDER_3"/>
          <p:cNvSpPr>
            <a:spLocks noGrp="1"/>
          </p:cNvSpPr>
          <p:nvPr>
            <p:ph type="body" idx="1"/>
          </p:nvPr>
        </p:nvSpPr>
        <p:spPr>
          <a:xfrm>
            <a:off x="226423" y="1095103"/>
            <a:ext cx="11730444" cy="5035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1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473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29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SUBTITLE"/>
          <p:cNvSpPr>
            <a:spLocks noGrp="1"/>
          </p:cNvSpPr>
          <p:nvPr>
            <p:ph type="subTitle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60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全社展開に向けた経営会議向けレビュー</a:t>
            </a:r>
          </a:p>
        </p:txBody>
      </p:sp>
      <p:sp>
        <p:nvSpPr>
          <p:cNvPr id="3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85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385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生成AI活用基盤の運用モデル</a:t>
            </a:r>
          </a:p>
        </p:txBody>
      </p:sp>
      <p:sp>
        <p:nvSpPr>
          <p:cNvPr id="4" name="AI_DATE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0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2026年6月</a:t>
            </a:r>
          </a:p>
        </p:txBody>
      </p:sp>
      <p:sp>
        <p:nvSpPr>
          <p:cNvPr id="5" name="AI_ORGANIZATION"/>
          <p:cNvSpPr>
            <a:spLocks noGrp="1"/>
          </p:cNvSpPr>
          <p:nvPr>
            <p:ph type="body" idx="14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0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エンタープライズAI推進室</a:t>
            </a:r>
          </a:p>
        </p:txBody>
      </p:sp>
      <p:sp>
        <p:nvSpPr>
          <p:cNvPr id="6" name="AI_AUTHOR"/>
          <p:cNvSpPr>
            <a:spLocks noGrp="1"/>
          </p:cNvSpPr>
          <p:nvPr>
            <p:ph type="body" idx="15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0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戦略・リスク統括チーム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SUBTITLE"/>
          <p:cNvSpPr>
            <a:spLocks noGrp="1"/>
          </p:cNvSpPr>
          <p:nvPr>
            <p:ph type="body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4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全社展開に向けて経営判断が必要な論点</a:t>
            </a:r>
          </a:p>
        </p:txBody>
      </p:sp>
      <p:sp>
        <p:nvSpPr>
          <p:cNvPr id="3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340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現状認識</a:t>
            </a:r>
          </a:p>
        </p:txBody>
      </p:sp>
      <p:sp>
        <p:nvSpPr>
          <p:cNvPr id="4" name="AI_SECTION_NO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86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86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本日の論点</a:t>
            </a:r>
          </a:p>
        </p:txBody>
      </p:sp>
      <p:sp>
        <p:nvSpPr>
          <p:cNvPr id="3" name="AI_ITEMS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65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活用拡大の兆候とリスク露出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65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ガバナンスモデルと意思決定権限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65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統制成熟度と実装ロードマップ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65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経営として承認が必要な事項</a:t>
            </a:r>
          </a:p>
        </p:txBody>
      </p:sp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活用状況、統制モデル、実行計画を順に確認する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LEFT_TITLE"/>
          <p:cNvSpPr>
            <a:spLocks noGrp="1"/>
          </p:cNvSpPr>
          <p:nvPr>
            <p:ph type="body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35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現在の状態</a:t>
            </a:r>
          </a:p>
        </p:txBody>
      </p:sp>
      <p:sp>
        <p:nvSpPr>
          <p:cNvPr id="3" name="AI_RIGHT_TITLE"/>
          <p:cNvSpPr>
            <a:spLocks noGrp="1"/>
          </p:cNvSpPr>
          <p:nvPr>
            <p:ph type="body" idx="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35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目指す状態</a:t>
            </a:r>
          </a:p>
        </p:txBody>
      </p:sp>
      <p:sp>
        <p:nvSpPr>
          <p:cNvPr id="4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ガバナンスモデルの転換</a:t>
            </a:r>
          </a:p>
        </p:txBody>
      </p:sp>
      <p:sp>
        <p:nvSpPr>
          <p:cNvPr id="5" name="AI_LEFT_DESCRIPTION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各部門が個別に実証を進めており、審査深度と証跡の粒度にばらつきがある。</a:t>
            </a:r>
          </a:p>
        </p:txBody>
      </p:sp>
      <p:sp>
        <p:nvSpPr>
          <p:cNvPr id="6" name="AI_RIGHT_DESCRIPTION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共通の受付、審査、証跡モデルにより、安全性と展開速度を両立する。</a:t>
            </a:r>
          </a:p>
        </p:txBody>
      </p:sp>
      <p:sp>
        <p:nvSpPr>
          <p:cNvPr id="7" name="AI_SUBTITLE"/>
          <p:cNvSpPr>
            <a:spLocks noGrp="1"/>
          </p:cNvSpPr>
          <p:nvPr>
            <p:ph type="body" idx="19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0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個別実験から、再現性のある全社統制へ移行する</a:t>
            </a:r>
          </a:p>
        </p:txBody>
      </p:sp>
      <p:sp>
        <p:nvSpPr>
          <p:cNvPr id="8" name="AI_LEFT_BULLETS"/>
          <p:cNvSpPr>
            <a:spLocks noGrp="1"/>
          </p:cNvSpPr>
          <p:nvPr>
            <p:ph idx="17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部門ごとにポリシー解釈が異なる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モデル・データ審査が手作業に依存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証跡収集がリリース直前に集中</a:t>
            </a:r>
          </a:p>
        </p:txBody>
      </p:sp>
      <p:sp>
        <p:nvSpPr>
          <p:cNvPr id="9" name="AI_RIGHT_BULLETS"/>
          <p:cNvSpPr>
            <a:spLocks noGrp="1"/>
          </p:cNvSpPr>
          <p:nvPr>
            <p:ph idx="18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リスク分類のための共通受付基準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開発プロセスに統制テンプレートを組み込む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監査に備えた証跡を継続的に蓄積</a:t>
            </a:r>
          </a:p>
        </p:txBody>
      </p:sp>
      <p:pic>
        <p:nvPicPr>
          <p:cNvPr id="10" name="AI_LEFT_ICON" descr="image.pn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/>
      </p:pic>
      <p:pic>
        <p:nvPicPr>
          <p:cNvPr id="11" name="AI_RIGHT_ICON" descr="image.png"/>
          <p:cNvPicPr>
            <a:picLocks noGrp="1" noChangeAspect="1"/>
          </p:cNvPicPr>
          <p:nvPr>
            <p:ph type="pic" idx="16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優先ワークストリーム</a:t>
            </a:r>
          </a:p>
        </p:txBody>
      </p:sp>
      <p:sp>
        <p:nvSpPr>
          <p:cNvPr id="3" name="AI_CARDS_1_DESCRIPTION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AIポリシーを受付項目、審査観点、証跡テンプレートに落とし込む。</a:t>
            </a:r>
          </a:p>
        </p:txBody>
      </p:sp>
      <p:sp>
        <p:nvSpPr>
          <p:cNvPr id="4" name="AI_CARDS_2_DESCRIPTION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ログ、プロンプト確認、データ境界、モデル利用承認を標準化する。</a:t>
            </a:r>
          </a:p>
        </p:txBody>
      </p:sp>
      <p:sp>
        <p:nvSpPr>
          <p:cNvPr id="5" name="AI_CARDS_3_DESCRIPTION"/>
          <p:cNvSpPr>
            <a:spLocks noGrp="1"/>
          </p:cNvSpPr>
          <p:nvPr>
            <p:ph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週次トリアージ、月次リスク確認、四半期の経営レビューを定着させる。</a:t>
            </a:r>
          </a:p>
        </p:txBody>
      </p:sp>
      <p:sp>
        <p:nvSpPr>
          <p:cNvPr id="6" name="AI_SUBTITLE"/>
          <p:cNvSpPr>
            <a:spLocks noGrp="1"/>
          </p:cNvSpPr>
          <p:nvPr>
            <p:ph type="body" idx="19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0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三つの取り組みを一つのプログラムとして管理する</a:t>
            </a:r>
          </a:p>
        </p:txBody>
      </p:sp>
      <p:sp>
        <p:nvSpPr>
          <p:cNvPr id="7" name="AI_CARDS_1_TITLE"/>
          <p:cNvSpPr>
            <a:spLocks noGrp="1"/>
          </p:cNvSpPr>
          <p:nvPr>
            <p:ph type="body" idx="20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35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ポリシーの業務化</a:t>
            </a:r>
          </a:p>
        </p:txBody>
      </p:sp>
      <p:pic>
        <p:nvPicPr>
          <p:cNvPr id="8" name="AI_CARDS_1_ICON" descr="image.png"/>
          <p:cNvPicPr>
            <a:picLocks noGrp="1" noChangeAspect="1"/>
          </p:cNvPicPr>
          <p:nvPr>
            <p:ph type="pic" idx="16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9" name="AI_CARDS_2_TITLE"/>
          <p:cNvSpPr>
            <a:spLocks noGrp="1"/>
          </p:cNvSpPr>
          <p:nvPr>
            <p:ph type="body" idx="21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35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プラットフォーム統制</a:t>
            </a:r>
          </a:p>
        </p:txBody>
      </p:sp>
      <p:pic>
        <p:nvPicPr>
          <p:cNvPr id="10" name="AI_CARDS_2_ICON" descr="image.png"/>
          <p:cNvPicPr>
            <a:picLocks noGrp="1" noChangeAspect="1"/>
          </p:cNvPicPr>
          <p:nvPr>
            <p:ph type="pic" idx="17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11" name="AI_CARDS_3_TITLE"/>
          <p:cNvSpPr>
            <a:spLocks noGrp="1"/>
          </p:cNvSpPr>
          <p:nvPr>
            <p:ph type="body" idx="22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35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運用会議体</a:t>
            </a:r>
          </a:p>
        </p:txBody>
      </p:sp>
      <p:pic>
        <p:nvPicPr>
          <p:cNvPr id="12" name="AI_CARDS_3_ICON" descr="image.png"/>
          <p:cNvPicPr>
            <a:picLocks noGrp="1" noChangeAspect="1"/>
          </p:cNvPicPr>
          <p:nvPr>
            <p:ph type="pic" idx="18"/>
          </p:nvPr>
        </p:nvPicPr>
        <p:blipFill>
          <a:blip r:embed="rId4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四半期別の統制成熟度</a:t>
            </a:r>
          </a:p>
        </p:txBody>
      </p:sp>
      <p:graphicFrame>
        <p:nvGraphicFramePr>
          <p:cNvPr id="3" name="AI_CHART"/>
          <p:cNvGraphicFramePr>
            <a:graphicFrameLocks noGrp="1"/>
          </p:cNvGraphicFramePr>
          <p:nvPr>
            <p:ph type="chart" idx="13" sz="quarter"/>
          </p:nvPr>
        </p:nvGraphicFramePr>
        <p:xfrm>
          <a:off x="426720" y="1543050"/>
          <a:ext cx="113385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第4四半期までに再利用可能な統制資産へ育てる</a:t>
            </a:r>
          </a:p>
        </p:txBody>
      </p:sp>
      <p:sp>
        <p:nvSpPr>
          <p:cNvPr id="5" name="AI_CAPTION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0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優先AIユースケース全体に対する統制カバレッジの概算値。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意思決定事項</a:t>
            </a:r>
          </a:p>
        </p:txBody>
      </p:sp>
      <p:graphicFrame>
        <p:nvGraphicFramePr>
          <p:cNvPr id="3" name="AI_TABLE"/>
          <p:cNvGraphicFramePr>
            <a:graphicFrameLocks noGrp="1"/>
          </p:cNvGraphicFramePr>
          <p:nvPr>
            <p:ph type="tbl" idx="13" sz="quarter"/>
          </p:nvPr>
        </p:nvGraphicFramePr>
        <p:xfrm>
          <a:off x="426720" y="1543050"/>
          <a:ext cx="113385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Yu Gothic"/>
                          <a:ea typeface="Yu Gothic"/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rPr sz="1150" b="1">
                          <a:cs typeface="Yu Gothic"/>
                          <a:ea typeface="Yu Gothic"/>
                          <a:solidFill>
                            <a:srgbClr val="FFFFFF"/>
                          </a:solidFill>
                          <a:latin typeface="Yu Gothic"/>
                        </a:rPr>
                        <a:t>決定事項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Yu Gothic"/>
                          <a:ea typeface="Yu Gothic"/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rPr sz="1150" b="1">
                          <a:cs typeface="Yu Gothic"/>
                          <a:ea typeface="Yu Gothic"/>
                          <a:solidFill>
                            <a:srgbClr val="FFFFFF"/>
                          </a:solidFill>
                          <a:latin typeface="Yu Gothic"/>
                        </a:rPr>
                        <a:t>オーナー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Yu Gothic"/>
                          <a:ea typeface="Yu Gothic"/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rPr sz="1150" b="1">
                          <a:cs typeface="Yu Gothic"/>
                          <a:ea typeface="Yu Gothic"/>
                          <a:solidFill>
                            <a:srgbClr val="FFFFFF"/>
                          </a:solidFill>
                          <a:latin typeface="Yu Gothic"/>
                        </a:rPr>
                        <a:t>時期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Yu Gothic"/>
                          <a:ea typeface="Yu Gothic"/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rPr sz="1150" b="1">
                          <a:cs typeface="Yu Gothic"/>
                          <a:ea typeface="Yu Gothic"/>
                          <a:solidFill>
                            <a:srgbClr val="FFFFFF"/>
                          </a:solidFill>
                          <a:latin typeface="Yu Gothic"/>
                        </a:rPr>
                        <a:t>効果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共通受付分類を承認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AIステアリング委員会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6月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ポートフォリオ管理を可能にする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証跡テンプレートを必須化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リスク・コンプライアンス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7月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監査準備工数を削減する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統制自動化に投資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テクノロジー部門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7月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defRPr>
                      </a:pPr>
                      <a:r>
                        <a:rPr sz="1100" b="0">
                          <a:cs typeface="Yu Gothic"/>
                          <a:ea typeface="Yu Gothic"/>
                          <a:solidFill>
                            <a:srgbClr val="242424"/>
                          </a:solidFill>
                          <a:latin typeface="Yu Gothic"/>
                        </a:rPr>
                        <a:t>リリース速度を高める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個別実証から再現性ある本番運用へ移行するための承認事項</a:t>
            </a:r>
          </a:p>
        </p:txBody>
      </p:sp>
      <p:sp>
        <p:nvSpPr>
          <p:cNvPr id="5" name="AI_CAPTION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9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9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各決定は、統制の一貫性を高めながら現場の負荷を下げるために設計する。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実装ロードマップ</a:t>
            </a:r>
          </a:p>
        </p:txBody>
      </p:sp>
      <p:sp>
        <p:nvSpPr>
          <p:cNvPr id="3" name="AI_ITEMS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55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1-2週目: ポリシー分類と部門別受付責任者を確定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55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3-6週目: 統制テンプレートと証跡例を公開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55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7-10週目: ログと承認状態の自動取得を開始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55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11-12週目: 例外管理を含む経営レビューを実施</a:t>
            </a:r>
          </a:p>
        </p:txBody>
      </p:sp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承認済み案件の速度を落とさず、運用能力を段階的に高める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I_ICON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AI_CAPTION"/>
          <p:cNvSpPr>
            <a:spLocks noGrp="1"/>
          </p:cNvSpPr>
          <p:nvPr>
            <p:ph type="body" idx="2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ユースケースの段階、リスク分類、統制証跡、リリース判断を一つの画面で確認する。</a:t>
            </a:r>
          </a:p>
        </p:txBody>
      </p:sp>
      <p:sp>
        <p:nvSpPr>
          <p:cNvPr id="4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運用モデルの見える化</a:t>
            </a:r>
          </a:p>
        </p:txBody>
      </p:sp>
      <p:sp>
        <p:nvSpPr>
          <p:cNvPr id="5" name="AI_SUBTITLE"/>
          <p:cNvSpPr>
            <a:spLocks noGrp="1"/>
          </p:cNvSpPr>
          <p:nvPr>
            <p:ph type="body" idx="13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分散した台帳ではなく、一つの説明責任システムへ統合する</a:t>
            </a:r>
          </a:p>
        </p:txBody>
      </p:sp>
      <p:sp>
        <p:nvSpPr>
          <p:cNvPr id="6" name="AI_ATTRIBUTION"/>
          <p:cNvSpPr>
            <a:spLocks noGrp="1"/>
          </p:cNvSpPr>
          <p:nvPr>
            <p:ph type="body" idx="14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0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経営会議向けの内部運用モデル案。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290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補足: 本番承認の条件</a:t>
            </a:r>
          </a:p>
        </p:txBody>
      </p:sp>
      <p:sp>
        <p:nvSpPr>
          <p:cNvPr id="3" name="AI_BODY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20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以下の条件を満たすことで、AIユースケースを管理された本番利用へ進められる。</a:t>
            </a:r>
          </a:p>
        </p:txBody>
      </p:sp>
      <p:sp>
        <p:nvSpPr>
          <p:cNvPr id="4" name="AI_REFERENCES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全社AIポリシー v2.1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モデルリスク審査チェックリスト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2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セキュリティログ標準</a:t>
            </a:r>
          </a:p>
        </p:txBody>
      </p:sp>
      <p:sp>
        <p:nvSpPr>
          <p:cNvPr id="5" name="AI_SUBTITLE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パイロットから本番利用へ移行するための最低条件</a:t>
            </a:r>
          </a:p>
        </p:txBody>
      </p:sp>
      <p:sp>
        <p:nvSpPr>
          <p:cNvPr id="6" name="AI_ITEMS"/>
          <p:cNvSpPr>
            <a:spLocks noGrp="1"/>
          </p:cNvSpPr>
          <p:nvPr>
            <p:ph idx="16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受付分類が完了している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データ境界が確認されている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人による監督方法が文書化されている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0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プロンプトとモデル評価の証跡が添付されている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SUBTITLE"/>
          <p:cNvSpPr>
            <a:spLocks noGrp="1"/>
          </p:cNvSpPr>
          <p:nvPr>
            <p:ph type="subTitle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45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次フェーズの運用モデル整備を承認する</a:t>
            </a:r>
          </a:p>
        </p:txBody>
      </p:sp>
      <p:sp>
        <p:nvSpPr>
          <p:cNvPr id="3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320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経営判断のお願い</a:t>
            </a:r>
          </a:p>
        </p:txBody>
      </p:sp>
      <p:sp>
        <p:nvSpPr>
          <p:cNvPr id="4" name="AI_MESSAGE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400" b="0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ガバナンス範囲、統制自動化の投資、レビュー頻度を確定する。</a:t>
            </a:r>
          </a:p>
        </p:txBody>
      </p:sp>
      <p:sp>
        <p:nvSpPr>
          <p:cNvPr id="5" name="AI_CONTACT"/>
          <p:cNvSpPr>
            <a:spLocks noGrp="1"/>
          </p:cNvSpPr>
          <p:nvPr>
            <p:ph type="body" idx="14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defRPr>
            </a:pPr>
            <a:r>
              <a:rPr sz="1150" b="0">
                <a:cs typeface="Yu Gothic"/>
                <a:ea typeface="Yu Gothic"/>
                <a:solidFill>
                  <a:srgbClr val="666666"/>
                </a:solidFill>
                <a:latin typeface="Yu Gothic"/>
              </a:rPr>
              <a:t>エンタープライズAI推進室</a:t>
            </a:r>
          </a:p>
        </p:txBody>
      </p:sp>
      <p:sp>
        <p:nvSpPr>
          <p:cNvPr id="6" name="AI_CTA"/>
          <p:cNvSpPr>
            <a:spLocks noGrp="1"/>
          </p:cNvSpPr>
          <p:nvPr>
            <p:ph type="body" idx="15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1">
                <a:cs typeface="Yu Gothic"/>
                <a:ea typeface="Yu Gothic"/>
                <a:solidFill>
                  <a:srgbClr val="242424"/>
                </a:solidFill>
                <a:latin typeface="Yu Gothic"/>
              </a:defRPr>
            </a:pPr>
            <a:r>
              <a:rPr sz="1150" b="1">
                <a:cs typeface="Yu Gothic"/>
                <a:ea typeface="Yu Gothic"/>
                <a:solidFill>
                  <a:srgbClr val="242424"/>
                </a:solidFill>
                <a:latin typeface="Yu Gothic"/>
              </a:rPr>
              <a:t>6月末までに第2フェーズの開始を承認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IZ UDPGothic">
      <a:majorFont>
        <a:latin typeface="BIZ UDPGothic"/>
        <a:ea typeface="BIZ UDPGothic"/>
        <a:cs typeface="BIZ UDPGothic"/>
      </a:majorFont>
      <a:minorFont>
        <a:latin typeface="BIZ UDPGothic"/>
        <a:ea typeface="BIZ UDPGothic"/>
        <a:cs typeface="BIZ UD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3" baseType="lpstr">
      <vt:lpstr>BIZ UDPGothic</vt:lpstr>
      <vt:lpstr>Arial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向山 裕一朗</cp:lastModifiedBy>
  <cp:revision>2</cp:revision>
  <dcterms:created xsi:type="dcterms:W3CDTF">2013-01-27T09:14:16Z</dcterms:created>
  <dcterms:modified xsi:type="dcterms:W3CDTF">2026-05-03T05:48:05Z</dcterms:modified>
  <cp:category/>
</cp:coreProperties>
</file>